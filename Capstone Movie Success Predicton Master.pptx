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714" r:id="rId3"/>
    <p:sldId id="674" r:id="rId4"/>
    <p:sldId id="713" r:id="rId5"/>
    <p:sldId id="715" r:id="rId6"/>
    <p:sldId id="717" r:id="rId7"/>
    <p:sldId id="716" r:id="rId8"/>
    <p:sldId id="712" r:id="rId9"/>
    <p:sldId id="718" r:id="rId10"/>
    <p:sldId id="719" r:id="rId11"/>
    <p:sldId id="676" r:id="rId12"/>
    <p:sldId id="720" r:id="rId13"/>
    <p:sldId id="721" r:id="rId14"/>
    <p:sldId id="722" r:id="rId15"/>
    <p:sldId id="723"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B58"/>
    <a:srgbClr val="333F50"/>
    <a:srgbClr val="8497B0"/>
    <a:srgbClr val="8FAADC"/>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p:scale>
          <a:sx n="81" d="100"/>
          <a:sy n="81" d="100"/>
        </p:scale>
        <p:origin x="411" y="210"/>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08-02-2026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869447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2568365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32589146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8.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19.sv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image" Target="../media/image28.sv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Movie Success Prediction</a:t>
            </a:r>
          </a:p>
        </p:txBody>
      </p:sp>
      <p:sp>
        <p:nvSpPr>
          <p:cNvPr id="3" name="TextBox 2">
            <a:extLst>
              <a:ext uri="{FF2B5EF4-FFF2-40B4-BE49-F238E27FC236}">
                <a16:creationId xmlns:a16="http://schemas.microsoft.com/office/drawing/2014/main" id="{A568C032-5891-6CE8-D2B0-F0D83C9AD300}"/>
              </a:ext>
            </a:extLst>
          </p:cNvPr>
          <p:cNvSpPr txBox="1"/>
          <p:nvPr/>
        </p:nvSpPr>
        <p:spPr>
          <a:xfrm>
            <a:off x="4454978" y="3712027"/>
            <a:ext cx="3282043" cy="954107"/>
          </a:xfrm>
          <a:prstGeom prst="rect">
            <a:avLst/>
          </a:prstGeom>
          <a:noFill/>
        </p:spPr>
        <p:txBody>
          <a:bodyPr wrap="square" rtlCol="0">
            <a:spAutoFit/>
          </a:bodyPr>
          <a:lstStyle/>
          <a:p>
            <a:pPr algn="ctr"/>
            <a:r>
              <a:rPr lang="en-US" sz="2800" dirty="0">
                <a:solidFill>
                  <a:schemeClr val="bg1"/>
                </a:solidFill>
                <a:latin typeface="Arial Rounded MT Bold" panose="020F0704030504030204" pitchFamily="34" charset="0"/>
              </a:rPr>
              <a:t>Presented by Lovepreet Singh</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r>
              <a:rPr lang="en-US" dirty="0"/>
              <a:t>Predicts </a:t>
            </a:r>
            <a:r>
              <a:rPr lang="en-US" b="1" dirty="0"/>
              <a:t>Movie Success Categories</a:t>
            </a:r>
            <a:r>
              <a:rPr lang="en-US" dirty="0"/>
              <a:t> using machine learning models.</a:t>
            </a:r>
          </a:p>
          <a:p>
            <a:r>
              <a:rPr lang="en-US" dirty="0"/>
              <a:t>Uses </a:t>
            </a:r>
            <a:r>
              <a:rPr lang="en-US" b="1" dirty="0"/>
              <a:t>IMDb scores</a:t>
            </a:r>
            <a:r>
              <a:rPr lang="en-US" dirty="0"/>
              <a:t> and historical movie data.</a:t>
            </a:r>
          </a:p>
          <a:p>
            <a:r>
              <a:rPr lang="en-US" dirty="0"/>
              <a:t>Performs </a:t>
            </a:r>
            <a:r>
              <a:rPr lang="en-US" b="1" dirty="0"/>
              <a:t>Exploratory Data Analysis (EDA)</a:t>
            </a:r>
            <a:r>
              <a:rPr lang="en-US" dirty="0"/>
              <a:t> to find key success factors.</a:t>
            </a:r>
          </a:p>
          <a:p>
            <a:r>
              <a:rPr lang="en-US" dirty="0"/>
              <a:t>Applies </a:t>
            </a:r>
            <a:r>
              <a:rPr lang="en-US" b="1" dirty="0"/>
              <a:t>Data Preprocessing and Feature Engineering</a:t>
            </a:r>
            <a:r>
              <a:rPr lang="en-US" dirty="0"/>
              <a:t>.</a:t>
            </a:r>
            <a:endParaRPr lang="en-US" b="1" dirty="0"/>
          </a:p>
          <a:p>
            <a:r>
              <a:rPr lang="en-US" dirty="0"/>
              <a:t>Tests </a:t>
            </a:r>
            <a:r>
              <a:rPr lang="en-US" b="1" dirty="0"/>
              <a:t>Multiple Classification Algorithms</a:t>
            </a:r>
            <a:r>
              <a:rPr lang="en-US" dirty="0"/>
              <a:t> to identify the best model.</a:t>
            </a:r>
            <a:endParaRPr lang="en-IN" dirty="0"/>
          </a:p>
        </p:txBody>
      </p:sp>
      <p:sp>
        <p:nvSpPr>
          <p:cNvPr id="4" name="Rectangle 3">
            <a:extLst>
              <a:ext uri="{FF2B5EF4-FFF2-40B4-BE49-F238E27FC236}">
                <a16:creationId xmlns:a16="http://schemas.microsoft.com/office/drawing/2014/main" id="{E028664D-8459-EA95-DD40-B32C5F685BA1}"/>
              </a:ext>
            </a:extLst>
          </p:cNvPr>
          <p:cNvSpPr/>
          <p:nvPr/>
        </p:nvSpPr>
        <p:spPr>
          <a:xfrm>
            <a:off x="370114" y="2160814"/>
            <a:ext cx="3309257" cy="2367643"/>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List with solid fill">
            <a:extLst>
              <a:ext uri="{FF2B5EF4-FFF2-40B4-BE49-F238E27FC236}">
                <a16:creationId xmlns:a16="http://schemas.microsoft.com/office/drawing/2014/main" id="{2F84D944-1A3C-CB98-7023-FD2BE453B6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61706" y="3668486"/>
            <a:ext cx="2291444" cy="2291444"/>
          </a:xfrm>
          <a:prstGeom prst="rect">
            <a:avLst/>
          </a:prstGeom>
        </p:spPr>
      </p:pic>
      <p:pic>
        <p:nvPicPr>
          <p:cNvPr id="8" name="Graphic 7" descr="Presentation with bar chart with solid fill">
            <a:extLst>
              <a:ext uri="{FF2B5EF4-FFF2-40B4-BE49-F238E27FC236}">
                <a16:creationId xmlns:a16="http://schemas.microsoft.com/office/drawing/2014/main" id="{EF47B4BE-D358-4659-0FAA-308E3A26A5E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8985" y="433812"/>
            <a:ext cx="2452046" cy="2452046"/>
          </a:xfrm>
          <a:prstGeom prst="rect">
            <a:avLst/>
          </a:prstGeom>
        </p:spPr>
      </p:pic>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Context</a:t>
            </a:r>
            <a:endParaRPr lang="en-IN"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514350" lvl="0" indent="-514350">
              <a:buFont typeface="+mj-lt"/>
              <a:buAutoNum type="arabicPeriod"/>
            </a:pPr>
            <a:r>
              <a:rPr lang="en-US" dirty="0"/>
              <a:t>Data Loading and Initial Exploration</a:t>
            </a:r>
          </a:p>
          <a:p>
            <a:pPr marL="514350" lvl="0" indent="-514350">
              <a:buFont typeface="+mj-lt"/>
              <a:buAutoNum type="arabicPeriod"/>
            </a:pPr>
            <a:r>
              <a:rPr lang="en-US" dirty="0"/>
              <a:t>Exploratory Data Analysis (EDA)</a:t>
            </a:r>
          </a:p>
          <a:p>
            <a:pPr marL="514350" lvl="0" indent="-514350">
              <a:buFont typeface="+mj-lt"/>
              <a:buAutoNum type="arabicPeriod"/>
            </a:pPr>
            <a:r>
              <a:rPr lang="en-US" dirty="0"/>
              <a:t>Data Preprocessing</a:t>
            </a:r>
          </a:p>
          <a:p>
            <a:pPr marL="514350" lvl="0" indent="-514350">
              <a:buFont typeface="+mj-lt"/>
              <a:buAutoNum type="arabicPeriod"/>
            </a:pPr>
            <a:r>
              <a:rPr lang="en-US" dirty="0"/>
              <a:t>Model Training and Evaluation</a:t>
            </a:r>
          </a:p>
          <a:p>
            <a:pPr marL="514350" lvl="0" indent="-514350">
              <a:buFont typeface="+mj-lt"/>
              <a:buAutoNum type="arabicPeriod"/>
            </a:pPr>
            <a:r>
              <a:rPr lang="en-US" dirty="0"/>
              <a:t>Model Insights and Predictions</a:t>
            </a:r>
          </a:p>
          <a:p>
            <a:pPr marL="514350" lvl="0" indent="-514350">
              <a:buFont typeface="+mj-lt"/>
              <a:buAutoNum type="arabicPeriod"/>
            </a:pPr>
            <a:r>
              <a:rPr lang="en-US" dirty="0"/>
              <a:t>Summary and Recommendations</a:t>
            </a:r>
          </a:p>
          <a:p>
            <a:pPr marL="514350" lvl="0" indent="-514350">
              <a:buFont typeface="+mj-lt"/>
              <a:buAutoNum type="arabicPeriod"/>
            </a:pPr>
            <a:endParaRPr lang="en-US" dirty="0"/>
          </a:p>
        </p:txBody>
      </p:sp>
      <p:pic>
        <p:nvPicPr>
          <p:cNvPr id="5" name="Graphic 4" descr="Checklist with solid fill">
            <a:extLst>
              <a:ext uri="{FF2B5EF4-FFF2-40B4-BE49-F238E27FC236}">
                <a16:creationId xmlns:a16="http://schemas.microsoft.com/office/drawing/2014/main" id="{B708F7CD-A684-527D-160D-964FCB63CA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41871" y="427717"/>
            <a:ext cx="2090058" cy="2090058"/>
          </a:xfrm>
          <a:prstGeom prst="rect">
            <a:avLst/>
          </a:prstGeom>
        </p:spPr>
      </p:pic>
      <p:pic>
        <p:nvPicPr>
          <p:cNvPr id="7" name="Graphic 6" descr="Questions with solid fill">
            <a:extLst>
              <a:ext uri="{FF2B5EF4-FFF2-40B4-BE49-F238E27FC236}">
                <a16:creationId xmlns:a16="http://schemas.microsoft.com/office/drawing/2014/main" id="{1FD31DE9-9D99-5174-FBFB-890C9B60DC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51571" y="3584442"/>
            <a:ext cx="2044114" cy="2044114"/>
          </a:xfrm>
          <a:prstGeom prst="rect">
            <a:avLst/>
          </a:prstGeom>
        </p:spPr>
      </p:pic>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r>
              <a:rPr lang="en-IN" dirty="0"/>
              <a:t>Dataset Overview</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r>
              <a:rPr lang="en-IN" dirty="0">
                <a:latin typeface="Californian FB" panose="0207040306080B030204" pitchFamily="18" charset="0"/>
              </a:rPr>
              <a:t>Total movies : 5043</a:t>
            </a:r>
          </a:p>
          <a:p>
            <a:r>
              <a:rPr lang="en-IN" dirty="0">
                <a:latin typeface="Californian FB" panose="0207040306080B030204" pitchFamily="18" charset="0"/>
              </a:rPr>
              <a:t>Features used for modelling: 26</a:t>
            </a:r>
          </a:p>
          <a:p>
            <a:r>
              <a:rPr lang="en-IN" dirty="0">
                <a:latin typeface="Californian FB" panose="0207040306080B030204" pitchFamily="18" charset="0"/>
              </a:rPr>
              <a:t>Number of Duplicates: 45</a:t>
            </a:r>
          </a:p>
          <a:p>
            <a:r>
              <a:rPr lang="en-IN" dirty="0">
                <a:latin typeface="Californian FB" panose="0207040306080B030204" pitchFamily="18" charset="0"/>
              </a:rPr>
              <a:t>Missing Values Analysis</a:t>
            </a:r>
          </a:p>
          <a:p>
            <a:r>
              <a:rPr lang="en-IN" dirty="0">
                <a:latin typeface="Californian FB" panose="0207040306080B030204" pitchFamily="18" charset="0"/>
              </a:rPr>
              <a:t>Unique Values</a:t>
            </a:r>
          </a:p>
        </p:txBody>
      </p:sp>
      <p:pic>
        <p:nvPicPr>
          <p:cNvPr id="3" name="Picture 2">
            <a:extLst>
              <a:ext uri="{FF2B5EF4-FFF2-40B4-BE49-F238E27FC236}">
                <a16:creationId xmlns:a16="http://schemas.microsoft.com/office/drawing/2014/main" id="{B7A06921-E3A5-2FFA-901D-5E1AB828ED83}"/>
              </a:ext>
            </a:extLst>
          </p:cNvPr>
          <p:cNvPicPr>
            <a:picLocks noChangeAspect="1"/>
          </p:cNvPicPr>
          <p:nvPr/>
        </p:nvPicPr>
        <p:blipFill>
          <a:blip r:embed="rId2"/>
          <a:stretch>
            <a:fillRect/>
          </a:stretch>
        </p:blipFill>
        <p:spPr>
          <a:xfrm>
            <a:off x="6297025" y="217714"/>
            <a:ext cx="2329904" cy="3167743"/>
          </a:xfrm>
          <a:prstGeom prst="rect">
            <a:avLst/>
          </a:prstGeom>
        </p:spPr>
      </p:pic>
      <p:pic>
        <p:nvPicPr>
          <p:cNvPr id="7" name="Picture 6">
            <a:extLst>
              <a:ext uri="{FF2B5EF4-FFF2-40B4-BE49-F238E27FC236}">
                <a16:creationId xmlns:a16="http://schemas.microsoft.com/office/drawing/2014/main" id="{E17AB916-BF89-6CFD-1F48-3F39A8B79AEB}"/>
              </a:ext>
            </a:extLst>
          </p:cNvPr>
          <p:cNvPicPr>
            <a:picLocks noChangeAspect="1"/>
          </p:cNvPicPr>
          <p:nvPr/>
        </p:nvPicPr>
        <p:blipFill>
          <a:blip r:embed="rId3"/>
          <a:stretch>
            <a:fillRect/>
          </a:stretch>
        </p:blipFill>
        <p:spPr>
          <a:xfrm>
            <a:off x="6297025" y="3472544"/>
            <a:ext cx="5572116" cy="3341914"/>
          </a:xfrm>
          <a:prstGeom prst="rect">
            <a:avLst/>
          </a:prstGeom>
        </p:spPr>
      </p:pic>
      <p:pic>
        <p:nvPicPr>
          <p:cNvPr id="9" name="Picture 8">
            <a:extLst>
              <a:ext uri="{FF2B5EF4-FFF2-40B4-BE49-F238E27FC236}">
                <a16:creationId xmlns:a16="http://schemas.microsoft.com/office/drawing/2014/main" id="{F5F3A822-0B58-76A1-AAB7-F0128FBC5E12}"/>
              </a:ext>
            </a:extLst>
          </p:cNvPr>
          <p:cNvPicPr>
            <a:picLocks noChangeAspect="1"/>
          </p:cNvPicPr>
          <p:nvPr/>
        </p:nvPicPr>
        <p:blipFill>
          <a:blip r:embed="rId4"/>
          <a:stretch>
            <a:fillRect/>
          </a:stretch>
        </p:blipFill>
        <p:spPr>
          <a:xfrm>
            <a:off x="9361714" y="217715"/>
            <a:ext cx="2224068" cy="3167742"/>
          </a:xfrm>
          <a:prstGeom prst="rect">
            <a:avLst/>
          </a:prstGeom>
        </p:spPr>
      </p:pic>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6E1AB7-A6F4-2E6C-2F9B-1521B582D63F}"/>
              </a:ext>
            </a:extLst>
          </p:cNvPr>
          <p:cNvSpPr>
            <a:spLocks noGrp="1"/>
          </p:cNvSpPr>
          <p:nvPr>
            <p:ph type="title"/>
          </p:nvPr>
        </p:nvSpPr>
        <p:spPr/>
        <p:txBody>
          <a:bodyPr/>
          <a:lstStyle/>
          <a:p>
            <a:r>
              <a:rPr lang="en-US" dirty="0"/>
              <a:t>Exploratory Data Analysis (EDA)</a:t>
            </a:r>
          </a:p>
        </p:txBody>
      </p:sp>
      <p:sp>
        <p:nvSpPr>
          <p:cNvPr id="5" name="Content Placeholder 4">
            <a:extLst>
              <a:ext uri="{FF2B5EF4-FFF2-40B4-BE49-F238E27FC236}">
                <a16:creationId xmlns:a16="http://schemas.microsoft.com/office/drawing/2014/main" id="{FBFA7CFB-5CFA-5158-D823-80B19BCA9365}"/>
              </a:ext>
            </a:extLst>
          </p:cNvPr>
          <p:cNvSpPr>
            <a:spLocks noGrp="1"/>
          </p:cNvSpPr>
          <p:nvPr>
            <p:ph idx="1"/>
          </p:nvPr>
        </p:nvSpPr>
        <p:spPr/>
        <p:txBody>
          <a:bodyPr>
            <a:normAutofit/>
          </a:bodyPr>
          <a:lstStyle/>
          <a:p>
            <a:r>
              <a:rPr lang="en-US" dirty="0">
                <a:latin typeface="Candara" panose="020E0502030303020204" pitchFamily="34" charset="0"/>
              </a:rPr>
              <a:t>Distribution of IMDb scores</a:t>
            </a:r>
          </a:p>
          <a:p>
            <a:r>
              <a:rPr lang="en-US" dirty="0">
                <a:latin typeface="Candara" panose="020E0502030303020204" pitchFamily="34" charset="0"/>
              </a:rPr>
              <a:t>Analyzation of Numerical Features</a:t>
            </a:r>
          </a:p>
          <a:p>
            <a:r>
              <a:rPr lang="en-US" dirty="0">
                <a:latin typeface="Candara" panose="020E0502030303020204" pitchFamily="34" charset="0"/>
              </a:rPr>
              <a:t>Analyzation of Categorical Features</a:t>
            </a:r>
          </a:p>
          <a:p>
            <a:r>
              <a:rPr lang="en-US" dirty="0">
                <a:latin typeface="Candara" panose="020E0502030303020204" pitchFamily="34" charset="0"/>
              </a:rPr>
              <a:t>Relationship Analysis with Target Variable</a:t>
            </a:r>
          </a:p>
          <a:p>
            <a:r>
              <a:rPr lang="en-US" dirty="0">
                <a:latin typeface="Candara" panose="020E0502030303020204" pitchFamily="34" charset="0"/>
              </a:rPr>
              <a:t>Creation Movie Success Categories</a:t>
            </a:r>
          </a:p>
          <a:p>
            <a:pPr lvl="1"/>
            <a:r>
              <a:rPr lang="en-US" sz="2800" dirty="0">
                <a:latin typeface="Candara" panose="020E0502030303020204" pitchFamily="34" charset="0"/>
              </a:rPr>
              <a:t>Classify</a:t>
            </a:r>
          </a:p>
          <a:p>
            <a:pPr lvl="2"/>
            <a:r>
              <a:rPr lang="en-US" sz="2800" dirty="0">
                <a:latin typeface="Candara" panose="020E0502030303020204" pitchFamily="34" charset="0"/>
              </a:rPr>
              <a:t>Hit	         3589</a:t>
            </a:r>
          </a:p>
          <a:p>
            <a:pPr lvl="2"/>
            <a:r>
              <a:rPr lang="en-US" sz="2800" dirty="0">
                <a:latin typeface="Candara" panose="020E0502030303020204" pitchFamily="34" charset="0"/>
              </a:rPr>
              <a:t>Average      1413</a:t>
            </a:r>
          </a:p>
          <a:p>
            <a:pPr lvl="2"/>
            <a:r>
              <a:rPr lang="en-US" sz="2800" dirty="0">
                <a:latin typeface="Candara" panose="020E0502030303020204" pitchFamily="34" charset="0"/>
              </a:rPr>
              <a:t>Flop                 41</a:t>
            </a:r>
          </a:p>
        </p:txBody>
      </p:sp>
      <p:pic>
        <p:nvPicPr>
          <p:cNvPr id="11" name="Graphic 10" descr="Head with gears with solid fill">
            <a:extLst>
              <a:ext uri="{FF2B5EF4-FFF2-40B4-BE49-F238E27FC236}">
                <a16:creationId xmlns:a16="http://schemas.microsoft.com/office/drawing/2014/main" id="{277735E8-3C04-0B3F-B88E-963410324D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51369" y="283027"/>
            <a:ext cx="2590801" cy="2590801"/>
          </a:xfrm>
          <a:prstGeom prst="rect">
            <a:avLst/>
          </a:prstGeom>
        </p:spPr>
      </p:pic>
      <p:pic>
        <p:nvPicPr>
          <p:cNvPr id="13" name="Graphic 12" descr="Presentation with bar chart with solid fill">
            <a:extLst>
              <a:ext uri="{FF2B5EF4-FFF2-40B4-BE49-F238E27FC236}">
                <a16:creationId xmlns:a16="http://schemas.microsoft.com/office/drawing/2014/main" id="{7D573DD1-9681-1ACE-C05B-0238A2B58B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46769" y="3139098"/>
            <a:ext cx="2481943" cy="2701088"/>
          </a:xfrm>
          <a:prstGeom prst="rect">
            <a:avLst/>
          </a:prstGeom>
        </p:spPr>
      </p:pic>
    </p:spTree>
    <p:extLst>
      <p:ext uri="{BB962C8B-B14F-4D97-AF65-F5344CB8AC3E}">
        <p14:creationId xmlns:p14="http://schemas.microsoft.com/office/powerpoint/2010/main" val="69009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52F9FB6-3F87-B3D8-4097-5739A6E149A8}"/>
              </a:ext>
            </a:extLst>
          </p:cNvPr>
          <p:cNvSpPr>
            <a:spLocks noGrp="1"/>
          </p:cNvSpPr>
          <p:nvPr>
            <p:ph idx="1"/>
          </p:nvPr>
        </p:nvSpPr>
        <p:spPr>
          <a:xfrm>
            <a:off x="678884" y="342900"/>
            <a:ext cx="10834234" cy="5730241"/>
          </a:xfrm>
        </p:spPr>
        <p:txBody>
          <a:bodyPr/>
          <a:lstStyle/>
          <a:p>
            <a:pPr marL="0" indent="0">
              <a:buNone/>
            </a:pPr>
            <a:r>
              <a:rPr lang="en-US" b="1" dirty="0"/>
              <a:t>Pre Training Analysis</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r>
              <a:rPr lang="en-US" sz="1600" dirty="0"/>
              <a:t>In first plot, Movie production grew steadily over the century, </a:t>
            </a:r>
            <a:r>
              <a:rPr lang="en-US" sz="1600" b="1" dirty="0"/>
              <a:t>peaking in the 2000s</a:t>
            </a:r>
            <a:r>
              <a:rPr lang="en-US" sz="1600" dirty="0"/>
              <a:t> before slightly declining.</a:t>
            </a:r>
          </a:p>
          <a:p>
            <a:r>
              <a:rPr lang="en-US" sz="1600" dirty="0"/>
              <a:t>In second plot, </a:t>
            </a:r>
            <a:r>
              <a:rPr lang="en-US" sz="1600" b="1" dirty="0"/>
              <a:t>Most movies cluster around average ratings</a:t>
            </a:r>
            <a:r>
              <a:rPr lang="en-US" sz="1600" dirty="0"/>
              <a:t>, with scores peaking between 6 and 7. IMDb ratings reveal a bell-shaped trend, centered on mid-range scores.</a:t>
            </a:r>
          </a:p>
          <a:p>
            <a:r>
              <a:rPr lang="en-US" sz="1600" dirty="0"/>
              <a:t>In third plot, R rated movies dominate the dataset, making up nearly half of all releases. Most movies lean towards mature audience, </a:t>
            </a:r>
            <a:r>
              <a:rPr lang="en-US" sz="1600" b="1" dirty="0"/>
              <a:t>with R and PG-13 ratings comprising nearly 70%</a:t>
            </a:r>
            <a:r>
              <a:rPr lang="en-US" sz="1600" dirty="0"/>
              <a:t>.</a:t>
            </a:r>
          </a:p>
          <a:p>
            <a:endParaRPr lang="en-US" sz="1600"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8" name="Picture 7">
            <a:extLst>
              <a:ext uri="{FF2B5EF4-FFF2-40B4-BE49-F238E27FC236}">
                <a16:creationId xmlns:a16="http://schemas.microsoft.com/office/drawing/2014/main" id="{E0F3DEE1-312C-2544-66DA-8190C3E87592}"/>
              </a:ext>
            </a:extLst>
          </p:cNvPr>
          <p:cNvPicPr>
            <a:picLocks noChangeAspect="1"/>
          </p:cNvPicPr>
          <p:nvPr/>
        </p:nvPicPr>
        <p:blipFill>
          <a:blip r:embed="rId2"/>
          <a:stretch>
            <a:fillRect/>
          </a:stretch>
        </p:blipFill>
        <p:spPr>
          <a:xfrm>
            <a:off x="750371" y="952499"/>
            <a:ext cx="3277344" cy="1703615"/>
          </a:xfrm>
          <a:prstGeom prst="rect">
            <a:avLst/>
          </a:prstGeom>
        </p:spPr>
      </p:pic>
      <p:pic>
        <p:nvPicPr>
          <p:cNvPr id="10" name="Picture 9">
            <a:extLst>
              <a:ext uri="{FF2B5EF4-FFF2-40B4-BE49-F238E27FC236}">
                <a16:creationId xmlns:a16="http://schemas.microsoft.com/office/drawing/2014/main" id="{8A68BAC0-B991-719D-8598-F744BAE8E623}"/>
              </a:ext>
            </a:extLst>
          </p:cNvPr>
          <p:cNvPicPr>
            <a:picLocks noChangeAspect="1"/>
          </p:cNvPicPr>
          <p:nvPr/>
        </p:nvPicPr>
        <p:blipFill>
          <a:blip r:embed="rId3"/>
          <a:stretch>
            <a:fillRect/>
          </a:stretch>
        </p:blipFill>
        <p:spPr>
          <a:xfrm>
            <a:off x="7864928" y="952499"/>
            <a:ext cx="3277344" cy="1567750"/>
          </a:xfrm>
          <a:prstGeom prst="rect">
            <a:avLst/>
          </a:prstGeom>
        </p:spPr>
      </p:pic>
      <p:pic>
        <p:nvPicPr>
          <p:cNvPr id="12" name="Picture 11">
            <a:extLst>
              <a:ext uri="{FF2B5EF4-FFF2-40B4-BE49-F238E27FC236}">
                <a16:creationId xmlns:a16="http://schemas.microsoft.com/office/drawing/2014/main" id="{AC184E82-43CF-60BA-CC4F-308FBC7F772E}"/>
              </a:ext>
            </a:extLst>
          </p:cNvPr>
          <p:cNvPicPr>
            <a:picLocks noChangeAspect="1"/>
          </p:cNvPicPr>
          <p:nvPr/>
        </p:nvPicPr>
        <p:blipFill>
          <a:blip r:embed="rId4"/>
          <a:stretch>
            <a:fillRect/>
          </a:stretch>
        </p:blipFill>
        <p:spPr>
          <a:xfrm>
            <a:off x="4327074" y="952499"/>
            <a:ext cx="3254630" cy="1649187"/>
          </a:xfrm>
          <a:prstGeom prst="rect">
            <a:avLst/>
          </a:prstGeom>
        </p:spPr>
      </p:pic>
    </p:spTree>
    <p:extLst>
      <p:ext uri="{BB962C8B-B14F-4D97-AF65-F5344CB8AC3E}">
        <p14:creationId xmlns:p14="http://schemas.microsoft.com/office/powerpoint/2010/main" val="393257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65C878-1F0A-1503-EC2C-BD06CE9F22B9}"/>
              </a:ext>
            </a:extLst>
          </p:cNvPr>
          <p:cNvSpPr>
            <a:spLocks noGrp="1"/>
          </p:cNvSpPr>
          <p:nvPr>
            <p:ph type="title"/>
          </p:nvPr>
        </p:nvSpPr>
        <p:spPr/>
        <p:txBody>
          <a:bodyPr/>
          <a:lstStyle/>
          <a:p>
            <a:r>
              <a:rPr lang="en-US" dirty="0"/>
              <a:t>Distribution of IMDb score and Movie Success Categories</a:t>
            </a:r>
          </a:p>
        </p:txBody>
      </p:sp>
      <p:pic>
        <p:nvPicPr>
          <p:cNvPr id="8" name="Content Placeholder 7">
            <a:extLst>
              <a:ext uri="{FF2B5EF4-FFF2-40B4-BE49-F238E27FC236}">
                <a16:creationId xmlns:a16="http://schemas.microsoft.com/office/drawing/2014/main" id="{17E258C7-63F1-5CC3-45A2-17DD915F47B3}"/>
              </a:ext>
            </a:extLst>
          </p:cNvPr>
          <p:cNvPicPr>
            <a:picLocks noGrp="1" noChangeAspect="1"/>
          </p:cNvPicPr>
          <p:nvPr>
            <p:ph sz="half" idx="1"/>
          </p:nvPr>
        </p:nvPicPr>
        <p:blipFill>
          <a:blip r:embed="rId3"/>
          <a:stretch>
            <a:fillRect/>
          </a:stretch>
        </p:blipFill>
        <p:spPr>
          <a:xfrm>
            <a:off x="108858" y="1524001"/>
            <a:ext cx="5949283" cy="2944594"/>
          </a:xfrm>
          <a:prstGeom prst="rect">
            <a:avLst/>
          </a:prstGeom>
        </p:spPr>
      </p:pic>
      <p:pic>
        <p:nvPicPr>
          <p:cNvPr id="10" name="Content Placeholder 9">
            <a:extLst>
              <a:ext uri="{FF2B5EF4-FFF2-40B4-BE49-F238E27FC236}">
                <a16:creationId xmlns:a16="http://schemas.microsoft.com/office/drawing/2014/main" id="{B513FE32-9B7E-BD91-571D-27239E2AD063}"/>
              </a:ext>
            </a:extLst>
          </p:cNvPr>
          <p:cNvPicPr>
            <a:picLocks noGrp="1" noChangeAspect="1"/>
          </p:cNvPicPr>
          <p:nvPr>
            <p:ph sz="half" idx="2"/>
          </p:nvPr>
        </p:nvPicPr>
        <p:blipFill>
          <a:blip r:embed="rId4"/>
          <a:stretch>
            <a:fillRect/>
          </a:stretch>
        </p:blipFill>
        <p:spPr>
          <a:xfrm>
            <a:off x="6133861" y="1524001"/>
            <a:ext cx="5987624" cy="2944594"/>
          </a:xfrm>
          <a:prstGeom prst="rect">
            <a:avLst/>
          </a:prstGeom>
        </p:spPr>
      </p:pic>
      <p:sp>
        <p:nvSpPr>
          <p:cNvPr id="3" name="TextBox 2">
            <a:extLst>
              <a:ext uri="{FF2B5EF4-FFF2-40B4-BE49-F238E27FC236}">
                <a16:creationId xmlns:a16="http://schemas.microsoft.com/office/drawing/2014/main" id="{623A7812-6A02-6C4D-92E9-D9398FC3083A}"/>
              </a:ext>
            </a:extLst>
          </p:cNvPr>
          <p:cNvSpPr txBox="1"/>
          <p:nvPr/>
        </p:nvSpPr>
        <p:spPr>
          <a:xfrm>
            <a:off x="332014" y="4615543"/>
            <a:ext cx="11593286"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t>According to "imdb.com", the movie which makes gross more than 10 - 20% more than there budget are considered under Hit movie. The movies where gross barely crosses the budget considered under Average. Rest are considered under Flop.</a:t>
            </a:r>
          </a:p>
          <a:p>
            <a:pPr marL="285750" indent="-285750">
              <a:buFont typeface="Arial" panose="020B0604020202020204" pitchFamily="34" charset="0"/>
              <a:buChar char="•"/>
            </a:pPr>
            <a:r>
              <a:rPr lang="en-US" sz="1600" dirty="0"/>
              <a:t>But due to guidelines of the project we are given to categorize the movie based on the IMDB score ranges..</a:t>
            </a:r>
          </a:p>
          <a:p>
            <a:pPr marL="285750" indent="-285750">
              <a:buFont typeface="Arial" panose="020B0604020202020204" pitchFamily="34" charset="0"/>
              <a:buChar char="•"/>
            </a:pPr>
            <a:r>
              <a:rPr lang="en-US" sz="1600" dirty="0"/>
              <a:t>Distribution of IMDb score tells us majority of films land in the ‘good but not great’, scoring 6 -7. Audience ratings concentrate in the mid-range, highlighting consistency over extremes.</a:t>
            </a:r>
          </a:p>
          <a:p>
            <a:pPr marL="285750" indent="-285750">
              <a:buFont typeface="Arial" panose="020B0604020202020204" pitchFamily="34" charset="0"/>
              <a:buChar char="•"/>
            </a:pPr>
            <a:r>
              <a:rPr lang="en-US" sz="1600" dirty="0"/>
              <a:t>Nearly 70% movies are classified as HIT, with very few flops. The majority movies win audience, with only few failing.</a:t>
            </a:r>
          </a:p>
        </p:txBody>
      </p:sp>
    </p:spTree>
    <p:extLst>
      <p:ext uri="{BB962C8B-B14F-4D97-AF65-F5344CB8AC3E}">
        <p14:creationId xmlns:p14="http://schemas.microsoft.com/office/powerpoint/2010/main" val="2371066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rPr lang="en-IN" dirty="0"/>
              <a:t>Data Preprocessing</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normAutofit lnSpcReduction="10000"/>
          </a:bodyPr>
          <a:lstStyle/>
          <a:p>
            <a:r>
              <a:rPr lang="en-IN" dirty="0">
                <a:latin typeface="Corbel" panose="020B0503020204020204" pitchFamily="34" charset="0"/>
              </a:rPr>
              <a:t>Handled missing values using median imputation for numerical features.</a:t>
            </a:r>
          </a:p>
          <a:p>
            <a:r>
              <a:rPr lang="en-IN" dirty="0">
                <a:latin typeface="Corbel" panose="020B0503020204020204" pitchFamily="34" charset="0"/>
              </a:rPr>
              <a:t>Handled missing values using mode imputation for categorical features.</a:t>
            </a:r>
          </a:p>
          <a:p>
            <a:r>
              <a:rPr lang="en-IN" dirty="0">
                <a:latin typeface="Corbel" panose="020B0503020204020204" pitchFamily="34" charset="0"/>
              </a:rPr>
              <a:t>Applied label encoding for categorical variables.</a:t>
            </a:r>
          </a:p>
          <a:p>
            <a:r>
              <a:rPr lang="en-IN" dirty="0">
                <a:latin typeface="Corbel" panose="020B0503020204020204" pitchFamily="34" charset="0"/>
              </a:rPr>
              <a:t>Addressed multicollinearity by removing highly correlated features i.e., (&gt;0.90).</a:t>
            </a:r>
          </a:p>
          <a:p>
            <a:r>
              <a:rPr lang="en-IN" dirty="0">
                <a:latin typeface="Corbel" panose="020B0503020204020204" pitchFamily="34" charset="0"/>
              </a:rPr>
              <a:t>Applied StandardScaler for feature normalization.</a:t>
            </a:r>
          </a:p>
        </p:txBody>
      </p:sp>
      <p:sp>
        <p:nvSpPr>
          <p:cNvPr id="2" name="Rectangle 1">
            <a:extLst>
              <a:ext uri="{FF2B5EF4-FFF2-40B4-BE49-F238E27FC236}">
                <a16:creationId xmlns:a16="http://schemas.microsoft.com/office/drawing/2014/main" id="{891923A6-3DED-14C3-9735-AF8AF4748CCE}"/>
              </a:ext>
            </a:extLst>
          </p:cNvPr>
          <p:cNvSpPr/>
          <p:nvPr/>
        </p:nvSpPr>
        <p:spPr>
          <a:xfrm>
            <a:off x="403964" y="2571426"/>
            <a:ext cx="2656114" cy="2024743"/>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Research with solid fill">
            <a:extLst>
              <a:ext uri="{FF2B5EF4-FFF2-40B4-BE49-F238E27FC236}">
                <a16:creationId xmlns:a16="http://schemas.microsoft.com/office/drawing/2014/main" id="{8077CFB4-C112-5E47-B810-7B40A4FD5D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420" y="669233"/>
            <a:ext cx="2629137" cy="2629137"/>
          </a:xfrm>
          <a:prstGeom prst="rect">
            <a:avLst/>
          </a:prstGeom>
        </p:spPr>
      </p:pic>
      <p:pic>
        <p:nvPicPr>
          <p:cNvPr id="10" name="Graphic 9" descr="Playbook with solid fill">
            <a:extLst>
              <a:ext uri="{FF2B5EF4-FFF2-40B4-BE49-F238E27FC236}">
                <a16:creationId xmlns:a16="http://schemas.microsoft.com/office/drawing/2014/main" id="{7EA7966B-7C39-FA6E-3808-0D351C2258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9680" y="3559631"/>
            <a:ext cx="2587994" cy="2587994"/>
          </a:xfrm>
          <a:prstGeom prst="rect">
            <a:avLst/>
          </a:prstGeom>
        </p:spPr>
      </p:pic>
    </p:spTree>
    <p:extLst>
      <p:ext uri="{BB962C8B-B14F-4D97-AF65-F5344CB8AC3E}">
        <p14:creationId xmlns:p14="http://schemas.microsoft.com/office/powerpoint/2010/main" val="1594365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34591C2-51E4-B6FA-E60B-607DFAD6BAA9}"/>
              </a:ext>
            </a:extLst>
          </p:cNvPr>
          <p:cNvSpPr>
            <a:spLocks noGrp="1"/>
          </p:cNvSpPr>
          <p:nvPr>
            <p:ph idx="1"/>
          </p:nvPr>
        </p:nvSpPr>
        <p:spPr>
          <a:xfrm>
            <a:off x="678884" y="326571"/>
            <a:ext cx="10834234" cy="5746570"/>
          </a:xfrm>
        </p:spPr>
        <p:txBody>
          <a:bodyPr>
            <a:normAutofit/>
          </a:bodyPr>
          <a:lstStyle/>
          <a:p>
            <a:r>
              <a:rPr lang="en-US" sz="1600" dirty="0"/>
              <a:t>Dropped non-essential descriptive columns to streamline the dataset for modeling. Removing text-heavy and identifier columns to reduce noise in preprocessing.</a:t>
            </a:r>
          </a:p>
          <a:p>
            <a:pPr marL="0" indent="0">
              <a:buNone/>
            </a:pPr>
            <a:endParaRPr lang="en-US" sz="1600" dirty="0"/>
          </a:p>
          <a:p>
            <a:r>
              <a:rPr lang="en-US" sz="1600" dirty="0"/>
              <a:t>Separated the ‘genres’ column into individual categories to enable more granular analysis and </a:t>
            </a:r>
            <a:br>
              <a:rPr lang="en-US" sz="1600" dirty="0"/>
            </a:br>
            <a:r>
              <a:rPr lang="en-US" sz="1600" dirty="0"/>
              <a:t>modeling. Unpacked the genre mix so each film’s identity is captured more precisely. </a:t>
            </a:r>
          </a:p>
          <a:p>
            <a:r>
              <a:rPr lang="en-US" sz="1600" dirty="0"/>
              <a:t>Handled missing values by imputing median for numerical features and most frequent values for </a:t>
            </a:r>
            <a:br>
              <a:rPr lang="en-US" sz="1600" dirty="0"/>
            </a:br>
            <a:r>
              <a:rPr lang="en-US" sz="1600" dirty="0"/>
              <a:t>categorical features.</a:t>
            </a:r>
          </a:p>
          <a:p>
            <a:r>
              <a:rPr lang="en-US" sz="1600" dirty="0"/>
              <a:t>Created a “classify” column based on imdb_score. </a:t>
            </a:r>
          </a:p>
        </p:txBody>
      </p:sp>
      <p:pic>
        <p:nvPicPr>
          <p:cNvPr id="9" name="Picture 8">
            <a:extLst>
              <a:ext uri="{FF2B5EF4-FFF2-40B4-BE49-F238E27FC236}">
                <a16:creationId xmlns:a16="http://schemas.microsoft.com/office/drawing/2014/main" id="{B797DE68-D985-B1EE-4049-B3FA102D9E35}"/>
              </a:ext>
            </a:extLst>
          </p:cNvPr>
          <p:cNvPicPr>
            <a:picLocks noChangeAspect="1"/>
          </p:cNvPicPr>
          <p:nvPr/>
        </p:nvPicPr>
        <p:blipFill>
          <a:blip r:embed="rId3"/>
          <a:stretch>
            <a:fillRect/>
          </a:stretch>
        </p:blipFill>
        <p:spPr>
          <a:xfrm>
            <a:off x="976496" y="941588"/>
            <a:ext cx="5304562" cy="283666"/>
          </a:xfrm>
          <a:prstGeom prst="rect">
            <a:avLst/>
          </a:prstGeom>
        </p:spPr>
      </p:pic>
      <p:pic>
        <p:nvPicPr>
          <p:cNvPr id="11" name="Picture 10">
            <a:extLst>
              <a:ext uri="{FF2B5EF4-FFF2-40B4-BE49-F238E27FC236}">
                <a16:creationId xmlns:a16="http://schemas.microsoft.com/office/drawing/2014/main" id="{FDF55F5C-EABC-0AEE-6A36-54D66887E710}"/>
              </a:ext>
            </a:extLst>
          </p:cNvPr>
          <p:cNvPicPr>
            <a:picLocks noChangeAspect="1"/>
          </p:cNvPicPr>
          <p:nvPr/>
        </p:nvPicPr>
        <p:blipFill>
          <a:blip r:embed="rId4"/>
          <a:stretch>
            <a:fillRect/>
          </a:stretch>
        </p:blipFill>
        <p:spPr>
          <a:xfrm>
            <a:off x="9312729" y="1302845"/>
            <a:ext cx="2383971" cy="4613894"/>
          </a:xfrm>
          <a:prstGeom prst="rect">
            <a:avLst/>
          </a:prstGeom>
        </p:spPr>
      </p:pic>
      <p:pic>
        <p:nvPicPr>
          <p:cNvPr id="13" name="Picture 12">
            <a:extLst>
              <a:ext uri="{FF2B5EF4-FFF2-40B4-BE49-F238E27FC236}">
                <a16:creationId xmlns:a16="http://schemas.microsoft.com/office/drawing/2014/main" id="{53499627-06D1-5013-B599-18236DB48EED}"/>
              </a:ext>
            </a:extLst>
          </p:cNvPr>
          <p:cNvPicPr>
            <a:picLocks noChangeAspect="1"/>
          </p:cNvPicPr>
          <p:nvPr/>
        </p:nvPicPr>
        <p:blipFill>
          <a:blip r:embed="rId5"/>
          <a:stretch>
            <a:fillRect/>
          </a:stretch>
        </p:blipFill>
        <p:spPr>
          <a:xfrm>
            <a:off x="976496" y="3006727"/>
            <a:ext cx="1991003" cy="1595660"/>
          </a:xfrm>
          <a:prstGeom prst="rect">
            <a:avLst/>
          </a:prstGeom>
        </p:spPr>
      </p:pic>
      <p:pic>
        <p:nvPicPr>
          <p:cNvPr id="15" name="Picture 14">
            <a:extLst>
              <a:ext uri="{FF2B5EF4-FFF2-40B4-BE49-F238E27FC236}">
                <a16:creationId xmlns:a16="http://schemas.microsoft.com/office/drawing/2014/main" id="{B163DDCC-F8DE-433A-CC0A-79DB0BADFE94}"/>
              </a:ext>
            </a:extLst>
          </p:cNvPr>
          <p:cNvPicPr>
            <a:picLocks noChangeAspect="1"/>
          </p:cNvPicPr>
          <p:nvPr/>
        </p:nvPicPr>
        <p:blipFill>
          <a:blip r:embed="rId6"/>
          <a:stretch>
            <a:fillRect/>
          </a:stretch>
        </p:blipFill>
        <p:spPr>
          <a:xfrm>
            <a:off x="3404745" y="3006727"/>
            <a:ext cx="3588642" cy="3055713"/>
          </a:xfrm>
          <a:prstGeom prst="rect">
            <a:avLst/>
          </a:prstGeom>
        </p:spPr>
      </p:pic>
    </p:spTree>
    <p:extLst>
      <p:ext uri="{BB962C8B-B14F-4D97-AF65-F5344CB8AC3E}">
        <p14:creationId xmlns:p14="http://schemas.microsoft.com/office/powerpoint/2010/main" val="3548167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23B229-9564-2985-0BCE-31525D2308E0}"/>
              </a:ext>
            </a:extLst>
          </p:cNvPr>
          <p:cNvSpPr>
            <a:spLocks noGrp="1"/>
          </p:cNvSpPr>
          <p:nvPr>
            <p:ph idx="1"/>
          </p:nvPr>
        </p:nvSpPr>
        <p:spPr>
          <a:xfrm>
            <a:off x="678884" y="359229"/>
            <a:ext cx="10834234" cy="5713912"/>
          </a:xfrm>
        </p:spPr>
        <p:txBody>
          <a:bodyPr>
            <a:normAutofit/>
          </a:bodyPr>
          <a:lstStyle/>
          <a:p>
            <a:r>
              <a:rPr lang="en-US" sz="1600" dirty="0"/>
              <a:t>Converted categorical variables and target variables into numeric codes using Label Encoding for model compatibility. </a:t>
            </a:r>
          </a:p>
          <a:p>
            <a:endParaRPr lang="en-US" sz="1600" dirty="0"/>
          </a:p>
          <a:p>
            <a:endParaRPr lang="en-US" sz="1600" dirty="0"/>
          </a:p>
          <a:p>
            <a:endParaRPr lang="en-US" sz="1600" dirty="0"/>
          </a:p>
          <a:p>
            <a:r>
              <a:rPr lang="en-US" sz="1600" dirty="0"/>
              <a:t>As per the guidelines, Removed highly correlated features and the imdb_score column to prevent redundancy and avoid model overfitting.</a:t>
            </a:r>
          </a:p>
          <a:p>
            <a:r>
              <a:rPr lang="en-US" sz="1600" dirty="0"/>
              <a:t>From the heatmap we found out that the </a:t>
            </a:r>
            <a:br>
              <a:rPr lang="en-US" sz="1600" dirty="0"/>
            </a:br>
            <a:r>
              <a:rPr lang="en-US" sz="1600" dirty="0"/>
              <a:t>highly correlated pair is only 1 </a:t>
            </a:r>
            <a:r>
              <a:rPr lang="en-US" sz="1600" dirty="0" err="1"/>
              <a:t>i.e</a:t>
            </a:r>
            <a:r>
              <a:rPr lang="en-US" sz="1600" dirty="0"/>
              <a:t>, </a:t>
            </a:r>
            <a:br>
              <a:rPr lang="en-US" sz="1600" dirty="0"/>
            </a:br>
            <a:r>
              <a:rPr lang="en-US" sz="1600" dirty="0"/>
              <a:t>actor_1_facebook_likes to </a:t>
            </a:r>
            <a:r>
              <a:rPr lang="en-US" sz="1600" dirty="0" err="1"/>
              <a:t>cast_total_facebook_likes</a:t>
            </a:r>
            <a:r>
              <a:rPr lang="en-US" sz="1600" dirty="0"/>
              <a:t>.</a:t>
            </a:r>
            <a:br>
              <a:rPr lang="en-US" sz="1600" dirty="0"/>
            </a:br>
            <a:r>
              <a:rPr lang="en-US" sz="1600" dirty="0"/>
              <a:t>So next step will be to remove the one feature</a:t>
            </a:r>
            <a:br>
              <a:rPr lang="en-US" sz="1600" dirty="0"/>
            </a:br>
            <a:r>
              <a:rPr lang="en-US" sz="1600" dirty="0"/>
              <a:t>from it which </a:t>
            </a:r>
            <a:r>
              <a:rPr lang="en-US" sz="1600" dirty="0" err="1"/>
              <a:t>i</a:t>
            </a:r>
            <a:r>
              <a:rPr lang="en-US" sz="1600" dirty="0"/>
              <a:t> would select to remove the </a:t>
            </a:r>
            <a:br>
              <a:rPr lang="en-US" sz="1600" dirty="0"/>
            </a:br>
            <a:r>
              <a:rPr lang="en-US" sz="1600" dirty="0"/>
              <a:t>actor_1_facebook_likes.</a:t>
            </a:r>
          </a:p>
          <a:p>
            <a:r>
              <a:rPr lang="en-US" sz="1600" dirty="0"/>
              <a:t>Split the dataset into training (80%) and </a:t>
            </a:r>
            <a:br>
              <a:rPr lang="en-US" sz="1600" dirty="0"/>
            </a:br>
            <a:r>
              <a:rPr lang="en-US" sz="1600" dirty="0"/>
              <a:t>testing (20%) sets with stratification to ensure</a:t>
            </a:r>
            <a:br>
              <a:rPr lang="en-US" sz="1600" dirty="0"/>
            </a:br>
            <a:r>
              <a:rPr lang="en-US" sz="1600" dirty="0"/>
              <a:t>balanced class distribution.</a:t>
            </a:r>
          </a:p>
          <a:p>
            <a:r>
              <a:rPr lang="en-US" sz="1600" dirty="0"/>
              <a:t>Applied feature scaling with </a:t>
            </a:r>
            <a:r>
              <a:rPr lang="en-US" sz="1600" b="1" dirty="0" err="1"/>
              <a:t>StandardScaler</a:t>
            </a:r>
            <a:br>
              <a:rPr lang="en-US" sz="1600" dirty="0"/>
            </a:br>
            <a:r>
              <a:rPr lang="en-US" sz="1600" dirty="0"/>
              <a:t>to normalize data for efficient model training.</a:t>
            </a:r>
          </a:p>
          <a:p>
            <a:endParaRPr lang="en-US" sz="1600" dirty="0"/>
          </a:p>
          <a:p>
            <a:endParaRPr lang="en-US" sz="1600" dirty="0"/>
          </a:p>
        </p:txBody>
      </p:sp>
      <p:pic>
        <p:nvPicPr>
          <p:cNvPr id="5" name="Picture 4">
            <a:extLst>
              <a:ext uri="{FF2B5EF4-FFF2-40B4-BE49-F238E27FC236}">
                <a16:creationId xmlns:a16="http://schemas.microsoft.com/office/drawing/2014/main" id="{963F6323-0C28-2644-DE48-9DF312566D9B}"/>
              </a:ext>
            </a:extLst>
          </p:cNvPr>
          <p:cNvPicPr>
            <a:picLocks noChangeAspect="1"/>
          </p:cNvPicPr>
          <p:nvPr/>
        </p:nvPicPr>
        <p:blipFill>
          <a:blip r:embed="rId2"/>
          <a:stretch>
            <a:fillRect/>
          </a:stretch>
        </p:blipFill>
        <p:spPr>
          <a:xfrm>
            <a:off x="957943" y="784859"/>
            <a:ext cx="10555173" cy="801114"/>
          </a:xfrm>
          <a:prstGeom prst="rect">
            <a:avLst/>
          </a:prstGeom>
        </p:spPr>
      </p:pic>
      <p:pic>
        <p:nvPicPr>
          <p:cNvPr id="7" name="Picture 6">
            <a:extLst>
              <a:ext uri="{FF2B5EF4-FFF2-40B4-BE49-F238E27FC236}">
                <a16:creationId xmlns:a16="http://schemas.microsoft.com/office/drawing/2014/main" id="{F6A1D9B7-BC2B-115D-D982-8D1BE935A16A}"/>
              </a:ext>
            </a:extLst>
          </p:cNvPr>
          <p:cNvPicPr>
            <a:picLocks noChangeAspect="1"/>
          </p:cNvPicPr>
          <p:nvPr/>
        </p:nvPicPr>
        <p:blipFill>
          <a:blip r:embed="rId3"/>
          <a:stretch>
            <a:fillRect/>
          </a:stretch>
        </p:blipFill>
        <p:spPr>
          <a:xfrm>
            <a:off x="5470138" y="2258785"/>
            <a:ext cx="6001956" cy="3668485"/>
          </a:xfrm>
          <a:prstGeom prst="rect">
            <a:avLst/>
          </a:prstGeom>
        </p:spPr>
      </p:pic>
    </p:spTree>
    <p:extLst>
      <p:ext uri="{BB962C8B-B14F-4D97-AF65-F5344CB8AC3E}">
        <p14:creationId xmlns:p14="http://schemas.microsoft.com/office/powerpoint/2010/main" val="3691661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Model Training and Evaluation</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1">
            <a:normAutofit/>
          </a:bodyPr>
          <a:lstStyle/>
          <a:p>
            <a:pPr marL="0" indent="0">
              <a:buNone/>
            </a:pPr>
            <a:r>
              <a:rPr lang="en-US" sz="2200" b="1" dirty="0">
                <a:solidFill>
                  <a:schemeClr val="tx1"/>
                </a:solidFill>
              </a:rPr>
              <a:t>Model Trained:</a:t>
            </a:r>
          </a:p>
          <a:p>
            <a:r>
              <a:rPr lang="en-US" sz="2200" b="1" dirty="0">
                <a:solidFill>
                  <a:schemeClr val="tx1"/>
                </a:solidFill>
              </a:rPr>
              <a:t>Logistic Regression</a:t>
            </a:r>
          </a:p>
          <a:p>
            <a:r>
              <a:rPr lang="en-US" sz="2200" b="1" dirty="0">
                <a:solidFill>
                  <a:schemeClr val="tx1"/>
                </a:solidFill>
              </a:rPr>
              <a:t>Decision</a:t>
            </a:r>
            <a:r>
              <a:rPr lang="en-IN" sz="2200" b="1" dirty="0">
                <a:solidFill>
                  <a:schemeClr val="tx1"/>
                </a:solidFill>
              </a:rPr>
              <a:t> Tree</a:t>
            </a:r>
          </a:p>
          <a:p>
            <a:r>
              <a:rPr lang="en-IN" sz="2200" b="1" dirty="0">
                <a:solidFill>
                  <a:schemeClr val="tx1"/>
                </a:solidFill>
              </a:rPr>
              <a:t>Random Forest Classifier</a:t>
            </a:r>
          </a:p>
          <a:p>
            <a:r>
              <a:rPr lang="en-IN" sz="2200" b="1" dirty="0">
                <a:solidFill>
                  <a:schemeClr val="tx1"/>
                </a:solidFill>
              </a:rPr>
              <a:t>Gradient Boosting Classifier</a:t>
            </a:r>
          </a:p>
          <a:p>
            <a:pPr marL="0" indent="0">
              <a:buNone/>
            </a:pPr>
            <a:r>
              <a:rPr lang="en-IN" sz="2200" b="1" dirty="0">
                <a:solidFill>
                  <a:schemeClr val="tx1"/>
                </a:solidFill>
              </a:rPr>
              <a:t> </a:t>
            </a:r>
          </a:p>
          <a:p>
            <a:pPr marL="0" indent="0">
              <a:buNone/>
            </a:pPr>
            <a:r>
              <a:rPr lang="en-IN" sz="2200" b="1" dirty="0">
                <a:solidFill>
                  <a:schemeClr val="tx1"/>
                </a:solidFill>
              </a:rPr>
              <a:t>Comparison of metrics between trained models.</a:t>
            </a:r>
            <a:endParaRPr lang="en-US" sz="2200" b="1" dirty="0">
              <a:solidFill>
                <a:schemeClr val="tx1"/>
              </a:solidFill>
            </a:endParaRPr>
          </a:p>
        </p:txBody>
      </p:sp>
      <p:sp>
        <p:nvSpPr>
          <p:cNvPr id="3" name="Rectangle 2">
            <a:extLst>
              <a:ext uri="{FF2B5EF4-FFF2-40B4-BE49-F238E27FC236}">
                <a16:creationId xmlns:a16="http://schemas.microsoft.com/office/drawing/2014/main" id="{7862BF5B-D8F5-5364-521C-7B0DAFF3F350}"/>
              </a:ext>
            </a:extLst>
          </p:cNvPr>
          <p:cNvSpPr/>
          <p:nvPr/>
        </p:nvSpPr>
        <p:spPr>
          <a:xfrm>
            <a:off x="678884" y="2334985"/>
            <a:ext cx="2656114" cy="2024743"/>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atabase with solid fill">
            <a:extLst>
              <a:ext uri="{FF2B5EF4-FFF2-40B4-BE49-F238E27FC236}">
                <a16:creationId xmlns:a16="http://schemas.microsoft.com/office/drawing/2014/main" id="{33D8DEA7-7B31-9CEA-1884-66FC9014EC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8226" y="3646713"/>
            <a:ext cx="2024742" cy="2024742"/>
          </a:xfrm>
          <a:prstGeom prst="rect">
            <a:avLst/>
          </a:prstGeom>
        </p:spPr>
      </p:pic>
      <p:pic>
        <p:nvPicPr>
          <p:cNvPr id="8" name="Graphic 7" descr="Internet with solid fill">
            <a:extLst>
              <a:ext uri="{FF2B5EF4-FFF2-40B4-BE49-F238E27FC236}">
                <a16:creationId xmlns:a16="http://schemas.microsoft.com/office/drawing/2014/main" id="{220A85FB-CB33-DC23-4D4F-B6C2A3C2249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8982" y="540591"/>
            <a:ext cx="2238488" cy="2238488"/>
          </a:xfrm>
          <a:prstGeom prst="rect">
            <a:avLst/>
          </a:prstGeom>
        </p:spPr>
      </p:pic>
    </p:spTree>
    <p:extLst>
      <p:ext uri="{BB962C8B-B14F-4D97-AF65-F5344CB8AC3E}">
        <p14:creationId xmlns:p14="http://schemas.microsoft.com/office/powerpoint/2010/main" val="2845992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27AC2E9-0275-206E-1C80-622DF442DDF0}"/>
              </a:ext>
            </a:extLst>
          </p:cNvPr>
          <p:cNvSpPr>
            <a:spLocks noGrp="1"/>
          </p:cNvSpPr>
          <p:nvPr>
            <p:ph idx="1"/>
          </p:nvPr>
        </p:nvSpPr>
        <p:spPr>
          <a:xfrm>
            <a:off x="678884" y="457200"/>
            <a:ext cx="10834234" cy="5615941"/>
          </a:xfrm>
        </p:spPr>
        <p:txBody>
          <a:bodyPr>
            <a:normAutofit fontScale="92500" lnSpcReduction="10000"/>
          </a:bodyPr>
          <a:lstStyle/>
          <a:p>
            <a:r>
              <a:rPr lang="en-US" sz="1600" dirty="0"/>
              <a:t>Model Performance comparison through collected metrics after training all the models.</a:t>
            </a:r>
          </a:p>
          <a:p>
            <a:endParaRPr lang="en-US" sz="1600" dirty="0"/>
          </a:p>
          <a:p>
            <a:endParaRPr lang="en-US" sz="1600" dirty="0"/>
          </a:p>
          <a:p>
            <a:endParaRPr lang="en-US" sz="1600" dirty="0"/>
          </a:p>
          <a:p>
            <a:endParaRPr lang="en-US" sz="1600" dirty="0"/>
          </a:p>
          <a:p>
            <a:r>
              <a:rPr lang="en-US" sz="1600" dirty="0"/>
              <a:t>Accuracy: Represents out of all prediction, how many</a:t>
            </a:r>
            <a:br>
              <a:rPr lang="en-US" sz="1600" dirty="0"/>
            </a:br>
            <a:r>
              <a:rPr lang="en-US" sz="1600" dirty="0"/>
              <a:t>were correct.</a:t>
            </a:r>
          </a:p>
          <a:p>
            <a:r>
              <a:rPr lang="en-US" sz="1600" dirty="0"/>
              <a:t>Precision: When the model says ‘Yes’ how many were</a:t>
            </a:r>
            <a:br>
              <a:rPr lang="en-US" sz="1600" dirty="0"/>
            </a:br>
            <a:r>
              <a:rPr lang="en-US" sz="1600" dirty="0"/>
              <a:t>correct.</a:t>
            </a:r>
          </a:p>
          <a:p>
            <a:r>
              <a:rPr lang="en-US" sz="1600" dirty="0"/>
              <a:t>Recall: Out of all actual correct answer, how many</a:t>
            </a:r>
            <a:br>
              <a:rPr lang="en-US" sz="1600" dirty="0"/>
            </a:br>
            <a:r>
              <a:rPr lang="en-US" sz="1600" dirty="0"/>
              <a:t>model predicted correct.</a:t>
            </a:r>
          </a:p>
          <a:p>
            <a:r>
              <a:rPr lang="en-US" sz="1600" dirty="0"/>
              <a:t>F1_score: A balance between precision and recall.</a:t>
            </a:r>
          </a:p>
          <a:p>
            <a:endParaRPr lang="en-US" sz="1600" dirty="0"/>
          </a:p>
          <a:p>
            <a:r>
              <a:rPr lang="en-US" sz="1600" dirty="0"/>
              <a:t>On basis of the all-model comparison. Conclusion</a:t>
            </a:r>
            <a:br>
              <a:rPr lang="en-US" sz="1600" dirty="0"/>
            </a:br>
            <a:r>
              <a:rPr lang="en-US" sz="1600" dirty="0"/>
              <a:t>was made that model Random Forest Classifier</a:t>
            </a:r>
            <a:br>
              <a:rPr lang="en-US" sz="1600" dirty="0"/>
            </a:br>
            <a:r>
              <a:rPr lang="en-US" sz="1600" dirty="0"/>
              <a:t>outperforms as compare to other models. Next</a:t>
            </a:r>
            <a:br>
              <a:rPr lang="en-US" sz="1600" dirty="0"/>
            </a:br>
            <a:r>
              <a:rPr lang="en-US" sz="1600" dirty="0"/>
              <a:t>step will be Detailed analysis of </a:t>
            </a:r>
            <a:br>
              <a:rPr lang="en-US" sz="1600" dirty="0"/>
            </a:br>
            <a:r>
              <a:rPr lang="en-US" sz="1600" dirty="0"/>
              <a:t>Random Forest Classifier.</a:t>
            </a:r>
            <a:br>
              <a:rPr lang="en-US" sz="1600" dirty="0"/>
            </a:br>
            <a:endParaRPr lang="en-US" sz="1600" dirty="0"/>
          </a:p>
          <a:p>
            <a:r>
              <a:rPr lang="en-US" sz="1600" dirty="0"/>
              <a:t>According to the guidelines we have to emphasis </a:t>
            </a:r>
            <a:br>
              <a:rPr lang="en-US" sz="1600" dirty="0"/>
            </a:br>
            <a:r>
              <a:rPr lang="en-US" sz="1600" dirty="0"/>
              <a:t>on Random Forest as demonstrated in the script.</a:t>
            </a:r>
          </a:p>
          <a:p>
            <a:endParaRPr lang="en-US" sz="1600" dirty="0"/>
          </a:p>
          <a:p>
            <a:pPr marL="0" indent="0">
              <a:buNone/>
            </a:pPr>
            <a:endParaRPr lang="en-US" sz="1600" dirty="0"/>
          </a:p>
          <a:p>
            <a:pPr marL="0" indent="0">
              <a:buNone/>
            </a:pPr>
            <a:endParaRPr lang="en-US" sz="1600" dirty="0"/>
          </a:p>
          <a:p>
            <a:endParaRPr lang="en-US" sz="1600" dirty="0"/>
          </a:p>
          <a:p>
            <a:endParaRPr lang="en-US" sz="1600" dirty="0"/>
          </a:p>
        </p:txBody>
      </p:sp>
      <p:pic>
        <p:nvPicPr>
          <p:cNvPr id="7" name="Picture 6">
            <a:extLst>
              <a:ext uri="{FF2B5EF4-FFF2-40B4-BE49-F238E27FC236}">
                <a16:creationId xmlns:a16="http://schemas.microsoft.com/office/drawing/2014/main" id="{02647B89-DC8E-036C-2A8E-B596E8158134}"/>
              </a:ext>
            </a:extLst>
          </p:cNvPr>
          <p:cNvPicPr>
            <a:picLocks noChangeAspect="1"/>
          </p:cNvPicPr>
          <p:nvPr/>
        </p:nvPicPr>
        <p:blipFill>
          <a:blip r:embed="rId2"/>
          <a:stretch>
            <a:fillRect/>
          </a:stretch>
        </p:blipFill>
        <p:spPr>
          <a:xfrm>
            <a:off x="1023257" y="859971"/>
            <a:ext cx="4401164" cy="924054"/>
          </a:xfrm>
          <a:prstGeom prst="rect">
            <a:avLst/>
          </a:prstGeom>
        </p:spPr>
      </p:pic>
      <p:pic>
        <p:nvPicPr>
          <p:cNvPr id="11" name="Picture 10">
            <a:extLst>
              <a:ext uri="{FF2B5EF4-FFF2-40B4-BE49-F238E27FC236}">
                <a16:creationId xmlns:a16="http://schemas.microsoft.com/office/drawing/2014/main" id="{D6CF109A-500D-5833-3147-AE8EC44B4ACC}"/>
              </a:ext>
            </a:extLst>
          </p:cNvPr>
          <p:cNvPicPr>
            <a:picLocks noChangeAspect="1"/>
          </p:cNvPicPr>
          <p:nvPr/>
        </p:nvPicPr>
        <p:blipFill>
          <a:blip r:embed="rId3"/>
          <a:stretch>
            <a:fillRect/>
          </a:stretch>
        </p:blipFill>
        <p:spPr>
          <a:xfrm>
            <a:off x="5424421" y="1944661"/>
            <a:ext cx="6136739" cy="3967844"/>
          </a:xfrm>
          <a:prstGeom prst="rect">
            <a:avLst/>
          </a:prstGeom>
        </p:spPr>
      </p:pic>
    </p:spTree>
    <p:extLst>
      <p:ext uri="{BB962C8B-B14F-4D97-AF65-F5344CB8AC3E}">
        <p14:creationId xmlns:p14="http://schemas.microsoft.com/office/powerpoint/2010/main" val="1702928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952660-F2C8-E638-8FBB-0C813F3BC500}"/>
              </a:ext>
            </a:extLst>
          </p:cNvPr>
          <p:cNvSpPr>
            <a:spLocks noGrp="1"/>
          </p:cNvSpPr>
          <p:nvPr>
            <p:ph idx="1"/>
          </p:nvPr>
        </p:nvSpPr>
        <p:spPr>
          <a:xfrm>
            <a:off x="678884" y="381000"/>
            <a:ext cx="10834234" cy="5692141"/>
          </a:xfrm>
        </p:spPr>
        <p:txBody>
          <a:bodyPr>
            <a:normAutofit/>
          </a:bodyPr>
          <a:lstStyle/>
          <a:p>
            <a:r>
              <a:rPr lang="en-US" sz="1600" b="1" dirty="0"/>
              <a:t>Detailed Analysis on Random Forest Classifier</a:t>
            </a:r>
            <a:r>
              <a:rPr lang="en-US" sz="1600" dirty="0"/>
              <a:t> as per the guidelines.</a:t>
            </a:r>
          </a:p>
          <a:p>
            <a:r>
              <a:rPr lang="en-US" sz="1600" dirty="0"/>
              <a:t>Classification Report is shown below:</a:t>
            </a:r>
          </a:p>
          <a:p>
            <a:r>
              <a:rPr lang="en-US" sz="1600" dirty="0"/>
              <a:t>Visualized the Confusion Matrix to evaluate Random Forest performance</a:t>
            </a:r>
            <a:br>
              <a:rPr lang="en-US" sz="1600" dirty="0"/>
            </a:br>
            <a:r>
              <a:rPr lang="en-US" sz="1600" dirty="0"/>
              <a:t>across true vs. predicted classes.</a:t>
            </a:r>
          </a:p>
          <a:p>
            <a:r>
              <a:rPr lang="en-US" sz="1600" dirty="0"/>
              <a:t>Identified and visualized the top contributing features using </a:t>
            </a:r>
            <a:br>
              <a:rPr lang="en-US" sz="1600" dirty="0"/>
            </a:br>
            <a:r>
              <a:rPr lang="en-US" sz="1600" dirty="0"/>
              <a:t>Random Forest feature importance.</a:t>
            </a:r>
          </a:p>
          <a:p>
            <a:endParaRPr lang="en-US" sz="1600" dirty="0"/>
          </a:p>
        </p:txBody>
      </p:sp>
      <p:pic>
        <p:nvPicPr>
          <p:cNvPr id="5" name="Picture 4">
            <a:extLst>
              <a:ext uri="{FF2B5EF4-FFF2-40B4-BE49-F238E27FC236}">
                <a16:creationId xmlns:a16="http://schemas.microsoft.com/office/drawing/2014/main" id="{B15AE48E-5CC4-4D07-4D18-390773F58BA8}"/>
              </a:ext>
            </a:extLst>
          </p:cNvPr>
          <p:cNvPicPr>
            <a:picLocks noChangeAspect="1"/>
          </p:cNvPicPr>
          <p:nvPr/>
        </p:nvPicPr>
        <p:blipFill>
          <a:blip r:embed="rId3"/>
          <a:stretch>
            <a:fillRect/>
          </a:stretch>
        </p:blipFill>
        <p:spPr>
          <a:xfrm>
            <a:off x="8055430" y="784859"/>
            <a:ext cx="3113314" cy="1504768"/>
          </a:xfrm>
          <a:prstGeom prst="rect">
            <a:avLst/>
          </a:prstGeom>
        </p:spPr>
      </p:pic>
      <p:pic>
        <p:nvPicPr>
          <p:cNvPr id="7" name="Picture 6">
            <a:extLst>
              <a:ext uri="{FF2B5EF4-FFF2-40B4-BE49-F238E27FC236}">
                <a16:creationId xmlns:a16="http://schemas.microsoft.com/office/drawing/2014/main" id="{F7AC33B7-D81A-968F-85B9-BA59BD593228}"/>
              </a:ext>
            </a:extLst>
          </p:cNvPr>
          <p:cNvPicPr>
            <a:picLocks noChangeAspect="1"/>
          </p:cNvPicPr>
          <p:nvPr/>
        </p:nvPicPr>
        <p:blipFill>
          <a:blip r:embed="rId4"/>
          <a:stretch>
            <a:fillRect/>
          </a:stretch>
        </p:blipFill>
        <p:spPr>
          <a:xfrm>
            <a:off x="6842630" y="2481943"/>
            <a:ext cx="4632035" cy="3591197"/>
          </a:xfrm>
          <a:prstGeom prst="rect">
            <a:avLst/>
          </a:prstGeom>
        </p:spPr>
      </p:pic>
      <p:pic>
        <p:nvPicPr>
          <p:cNvPr id="9" name="Picture 8">
            <a:extLst>
              <a:ext uri="{FF2B5EF4-FFF2-40B4-BE49-F238E27FC236}">
                <a16:creationId xmlns:a16="http://schemas.microsoft.com/office/drawing/2014/main" id="{B69F0F3F-3EC0-16F6-A510-A876E28BA190}"/>
              </a:ext>
            </a:extLst>
          </p:cNvPr>
          <p:cNvPicPr>
            <a:picLocks noChangeAspect="1"/>
          </p:cNvPicPr>
          <p:nvPr/>
        </p:nvPicPr>
        <p:blipFill>
          <a:blip r:embed="rId5"/>
          <a:stretch>
            <a:fillRect/>
          </a:stretch>
        </p:blipFill>
        <p:spPr>
          <a:xfrm>
            <a:off x="1060323" y="2380061"/>
            <a:ext cx="5469846" cy="3634296"/>
          </a:xfrm>
          <a:prstGeom prst="rect">
            <a:avLst/>
          </a:prstGeom>
        </p:spPr>
      </p:pic>
    </p:spTree>
    <p:extLst>
      <p:ext uri="{BB962C8B-B14F-4D97-AF65-F5344CB8AC3E}">
        <p14:creationId xmlns:p14="http://schemas.microsoft.com/office/powerpoint/2010/main" val="4046822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A67CD6-7EBB-3C11-2E73-8DEC2D056E29}"/>
              </a:ext>
            </a:extLst>
          </p:cNvPr>
          <p:cNvSpPr>
            <a:spLocks noGrp="1"/>
          </p:cNvSpPr>
          <p:nvPr>
            <p:ph idx="1"/>
          </p:nvPr>
        </p:nvSpPr>
        <p:spPr>
          <a:xfrm>
            <a:off x="678884" y="353786"/>
            <a:ext cx="10834234" cy="5719355"/>
          </a:xfrm>
        </p:spPr>
        <p:txBody>
          <a:bodyPr>
            <a:normAutofit/>
          </a:bodyPr>
          <a:lstStyle/>
          <a:p>
            <a:r>
              <a:rPr lang="en-US" sz="1600" dirty="0"/>
              <a:t>Optimized Random Forest using Grid Search CV to select </a:t>
            </a:r>
            <a:br>
              <a:rPr lang="en-US" sz="1600" dirty="0"/>
            </a:br>
            <a:r>
              <a:rPr lang="en-US" sz="1600" dirty="0"/>
              <a:t>best hyperparameters and improve accuracy.</a:t>
            </a:r>
          </a:p>
          <a:p>
            <a:r>
              <a:rPr lang="en-US" sz="1600" dirty="0"/>
              <a:t>Generated classification report and confusion matrix to </a:t>
            </a:r>
            <a:br>
              <a:rPr lang="en-US" sz="1600" dirty="0"/>
            </a:br>
            <a:r>
              <a:rPr lang="en-US" sz="1600" dirty="0"/>
              <a:t>assess model performance across all classes.</a:t>
            </a:r>
          </a:p>
          <a:p>
            <a:r>
              <a:rPr lang="en-US" sz="1600" dirty="0"/>
              <a:t>Compared actual vs. predicted distributions and visualized </a:t>
            </a:r>
            <a:br>
              <a:rPr lang="en-US" sz="1600" dirty="0"/>
            </a:br>
            <a:r>
              <a:rPr lang="en-US" sz="1600" dirty="0"/>
              <a:t>overall prediction accuracy to assess model performance.</a:t>
            </a:r>
          </a:p>
        </p:txBody>
      </p:sp>
      <p:pic>
        <p:nvPicPr>
          <p:cNvPr id="5" name="Picture 4">
            <a:extLst>
              <a:ext uri="{FF2B5EF4-FFF2-40B4-BE49-F238E27FC236}">
                <a16:creationId xmlns:a16="http://schemas.microsoft.com/office/drawing/2014/main" id="{6F69A958-C705-B2DB-9545-8AAB1AEA8F6D}"/>
              </a:ext>
            </a:extLst>
          </p:cNvPr>
          <p:cNvPicPr>
            <a:picLocks noChangeAspect="1"/>
          </p:cNvPicPr>
          <p:nvPr/>
        </p:nvPicPr>
        <p:blipFill>
          <a:blip r:embed="rId2"/>
          <a:stretch>
            <a:fillRect/>
          </a:stretch>
        </p:blipFill>
        <p:spPr>
          <a:xfrm>
            <a:off x="941613" y="3213464"/>
            <a:ext cx="7271658" cy="2952704"/>
          </a:xfrm>
          <a:prstGeom prst="rect">
            <a:avLst/>
          </a:prstGeom>
        </p:spPr>
      </p:pic>
      <p:pic>
        <p:nvPicPr>
          <p:cNvPr id="7" name="Picture 6">
            <a:extLst>
              <a:ext uri="{FF2B5EF4-FFF2-40B4-BE49-F238E27FC236}">
                <a16:creationId xmlns:a16="http://schemas.microsoft.com/office/drawing/2014/main" id="{C28C7B1A-C014-0621-CAA0-6346F6203685}"/>
              </a:ext>
            </a:extLst>
          </p:cNvPr>
          <p:cNvPicPr>
            <a:picLocks noChangeAspect="1"/>
          </p:cNvPicPr>
          <p:nvPr/>
        </p:nvPicPr>
        <p:blipFill>
          <a:blip r:embed="rId3"/>
          <a:stretch>
            <a:fillRect/>
          </a:stretch>
        </p:blipFill>
        <p:spPr>
          <a:xfrm>
            <a:off x="7758881" y="181911"/>
            <a:ext cx="4016966" cy="3383159"/>
          </a:xfrm>
          <a:prstGeom prst="rect">
            <a:avLst/>
          </a:prstGeom>
        </p:spPr>
      </p:pic>
    </p:spTree>
    <p:extLst>
      <p:ext uri="{BB962C8B-B14F-4D97-AF65-F5344CB8AC3E}">
        <p14:creationId xmlns:p14="http://schemas.microsoft.com/office/powerpoint/2010/main" val="1859720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79A59-4903-E9BA-8DEE-ADE99986C7D5}"/>
              </a:ext>
            </a:extLst>
          </p:cNvPr>
          <p:cNvSpPr>
            <a:spLocks noGrp="1"/>
          </p:cNvSpPr>
          <p:nvPr>
            <p:ph type="title"/>
          </p:nvPr>
        </p:nvSpPr>
        <p:spPr/>
        <p:txBody>
          <a:bodyPr>
            <a:normAutofit/>
          </a:bodyPr>
          <a:lstStyle/>
          <a:p>
            <a:r>
              <a:rPr lang="en-US" dirty="0"/>
              <a:t>Conclusion and Recommendation</a:t>
            </a:r>
          </a:p>
        </p:txBody>
      </p:sp>
      <p:sp>
        <p:nvSpPr>
          <p:cNvPr id="3" name="Content Placeholder 2">
            <a:extLst>
              <a:ext uri="{FF2B5EF4-FFF2-40B4-BE49-F238E27FC236}">
                <a16:creationId xmlns:a16="http://schemas.microsoft.com/office/drawing/2014/main" id="{540607CB-678F-DC9A-ACD9-E05ED31FCFF1}"/>
              </a:ext>
            </a:extLst>
          </p:cNvPr>
          <p:cNvSpPr>
            <a:spLocks noGrp="1"/>
          </p:cNvSpPr>
          <p:nvPr>
            <p:ph idx="1"/>
          </p:nvPr>
        </p:nvSpPr>
        <p:spPr/>
        <p:txBody>
          <a:bodyPr>
            <a:normAutofit/>
          </a:bodyPr>
          <a:lstStyle/>
          <a:p>
            <a:r>
              <a:rPr lang="en-US" sz="1800" dirty="0"/>
              <a:t>For Production Optimization</a:t>
            </a:r>
          </a:p>
          <a:p>
            <a:pPr lvl="1"/>
            <a:r>
              <a:rPr lang="en-US" sz="1400" dirty="0"/>
              <a:t>Focus on features with high importance scores</a:t>
            </a:r>
            <a:endParaRPr lang="en-US" sz="700" dirty="0"/>
          </a:p>
          <a:p>
            <a:pPr lvl="1"/>
            <a:r>
              <a:rPr lang="en-US" sz="1400" dirty="0"/>
              <a:t>Monitor </a:t>
            </a:r>
            <a:r>
              <a:rPr lang="en-US" sz="1400" dirty="0" err="1"/>
              <a:t>num_voted_users</a:t>
            </a:r>
            <a:r>
              <a:rPr lang="en-US" sz="1400" dirty="0"/>
              <a:t> and </a:t>
            </a:r>
            <a:r>
              <a:rPr lang="en-US" sz="1400" dirty="0" err="1"/>
              <a:t>num_critic_for_reviews</a:t>
            </a:r>
            <a:r>
              <a:rPr lang="en-US" sz="1400" dirty="0"/>
              <a:t> as key indicators</a:t>
            </a:r>
          </a:p>
          <a:p>
            <a:pPr lvl="1"/>
            <a:r>
              <a:rPr lang="en-US" sz="1400" dirty="0"/>
              <a:t>Consider budget allocation based on historical success patterns.</a:t>
            </a:r>
          </a:p>
          <a:p>
            <a:pPr lvl="1"/>
            <a:endParaRPr lang="en-US" sz="1400" dirty="0"/>
          </a:p>
          <a:p>
            <a:r>
              <a:rPr lang="en-US" sz="1800" dirty="0"/>
              <a:t>For Marketing Strategies</a:t>
            </a:r>
          </a:p>
          <a:p>
            <a:pPr lvl="1"/>
            <a:r>
              <a:rPr lang="en-US" sz="1400" dirty="0"/>
              <a:t>Target marketing based on predicted success category</a:t>
            </a:r>
            <a:endParaRPr lang="en-US" sz="700" dirty="0"/>
          </a:p>
          <a:p>
            <a:pPr lvl="1"/>
            <a:r>
              <a:rPr lang="en-US" sz="1400" dirty="0"/>
              <a:t>Allocate resources proportionally to predicted IMDb score range.</a:t>
            </a:r>
          </a:p>
          <a:p>
            <a:pPr lvl="1"/>
            <a:r>
              <a:rPr lang="en-US" sz="1400" dirty="0"/>
              <a:t>Leverage social media engagement (Facebook likes) as early indicators.</a:t>
            </a:r>
          </a:p>
          <a:p>
            <a:pPr lvl="1"/>
            <a:endParaRPr lang="en-US" sz="1400" dirty="0"/>
          </a:p>
          <a:p>
            <a:r>
              <a:rPr lang="en-US" sz="1800" dirty="0"/>
              <a:t>For Future Improvements</a:t>
            </a:r>
          </a:p>
          <a:p>
            <a:pPr lvl="1"/>
            <a:r>
              <a:rPr lang="en-US" sz="1400" dirty="0"/>
              <a:t>Collect more data on underrepresented categories</a:t>
            </a:r>
            <a:endParaRPr lang="en-US" sz="700" dirty="0"/>
          </a:p>
          <a:p>
            <a:pPr lvl="1"/>
            <a:r>
              <a:rPr lang="en-US" sz="1400" dirty="0"/>
              <a:t>Include additional features like streaming platforms (OTT, Cinema, </a:t>
            </a:r>
            <a:r>
              <a:rPr lang="en-US" sz="1400" dirty="0" err="1"/>
              <a:t>etc</a:t>
            </a:r>
            <a:r>
              <a:rPr lang="en-US" sz="1400" dirty="0"/>
              <a:t>), awards etc.</a:t>
            </a:r>
          </a:p>
          <a:p>
            <a:pPr lvl="1"/>
            <a:endParaRPr lang="en-US" sz="700" dirty="0"/>
          </a:p>
        </p:txBody>
      </p:sp>
    </p:spTree>
    <p:extLst>
      <p:ext uri="{BB962C8B-B14F-4D97-AF65-F5344CB8AC3E}">
        <p14:creationId xmlns:p14="http://schemas.microsoft.com/office/powerpoint/2010/main" val="279063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7545</TotalTime>
  <Words>984</Words>
  <Application>Microsoft Office PowerPoint</Application>
  <PresentationFormat>Widescreen</PresentationFormat>
  <Paragraphs>116</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Rounded MT Bold</vt:lpstr>
      <vt:lpstr>Calibri</vt:lpstr>
      <vt:lpstr>Californian FB</vt:lpstr>
      <vt:lpstr>Candara</vt:lpstr>
      <vt:lpstr>Corbel</vt:lpstr>
      <vt:lpstr>BIA Template</vt:lpstr>
      <vt:lpstr>PowerPoint Presentation</vt:lpstr>
      <vt:lpstr>Agenda</vt:lpstr>
      <vt:lpstr>Context</vt:lpstr>
      <vt:lpstr>Dataset Overview</vt:lpstr>
      <vt:lpstr>Exploratory Data Analysis (EDA)</vt:lpstr>
      <vt:lpstr>PowerPoint Presentation</vt:lpstr>
      <vt:lpstr>Distribution of IMDb score and Movie Success Categories</vt:lpstr>
      <vt:lpstr>Data Preprocessing</vt:lpstr>
      <vt:lpstr>PowerPoint Presentation</vt:lpstr>
      <vt:lpstr>PowerPoint Presentation</vt:lpstr>
      <vt:lpstr>Model Training and Evaluation</vt:lpstr>
      <vt:lpstr>PowerPoint Presentation</vt:lpstr>
      <vt:lpstr>PowerPoint Presentation</vt:lpstr>
      <vt:lpstr>PowerPoint Presentation</vt:lpstr>
      <vt:lpstr>Conclusion and Recommendation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Lovepreet Singh</cp:lastModifiedBy>
  <cp:revision>2257</cp:revision>
  <dcterms:created xsi:type="dcterms:W3CDTF">2020-12-23T13:36:00Z</dcterms:created>
  <dcterms:modified xsi:type="dcterms:W3CDTF">2026-02-08T12:19:59Z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